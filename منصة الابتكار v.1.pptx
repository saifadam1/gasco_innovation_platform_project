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21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0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35040" y="13258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3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مقترح إنشاء منصة</a:t>
            </a:r>
            <a:endParaRPr lang="en-US" sz="3700" dirty="0"/>
          </a:p>
          <a:p>
            <a:pPr marL="0" indent="0" algn="r" rtl="1">
              <a:buNone/>
            </a:pPr>
            <a:r>
              <a:rPr lang="en-US" sz="3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الابتكار المؤسسي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080760" y="2788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بوابة داخلية لاستقبال أفكار الموظفين وتقييمها وتحويلها إلى مبادرات قابلة للتنفيذ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80760" y="5376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الهدف: تصميم منصة قابلة للنشر على شبكة المعلومات للمؤسسة</a:t>
            </a:r>
            <a:endParaRPr lang="en-US" sz="1300" dirty="0"/>
          </a:p>
        </p:txBody>
      </p:sp>
      <p:pic>
        <p:nvPicPr>
          <p:cNvPr id="7" name="Picture 6" descr="Copy of Gasco New Logo">
            <a:extLst>
              <a:ext uri="{FF2B5EF4-FFF2-40B4-BE49-F238E27FC236}">
                <a16:creationId xmlns:a16="http://schemas.microsoft.com/office/drawing/2014/main" id="{5BA2A192-B84B-492E-D5BF-F1AB014AEA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22" y="2317479"/>
            <a:ext cx="5180602" cy="2314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نحتاج منصة للابتكار؟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موحدة تجعل الأفكار قابلة للقياس والمتابعة بدل أن تبقى مبادرات فردية غير موثقة.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01000" y="1828800"/>
            <a:ext cx="2788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المشاركة</a:t>
            </a:r>
            <a:endParaRPr lang="en-US" sz="1600" b="1" dirty="0"/>
          </a:p>
          <a:p>
            <a:pPr marL="0" indent="0" algn="r" rtl="1">
              <a:buNone/>
            </a:pPr>
            <a:r>
              <a:rPr lang="en-US" sz="16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تمكين الموظفين من تقديم حلول عملية مرتبطة بتحديات العمل اليومية.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828800"/>
            <a:ext cx="2788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تسريع التحسين</a:t>
            </a:r>
            <a:endParaRPr lang="en-US" sz="1600" b="1" dirty="0"/>
          </a:p>
          <a:p>
            <a:pPr marL="0" indent="0" algn="r" rtl="1">
              <a:buNone/>
            </a:pPr>
            <a:r>
              <a:rPr lang="en-US" sz="16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الأفكار حسب الأثر والجدوى والتكلفة للوصول إلى مبادرات ذات أولوية.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2788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المعرفة</a:t>
            </a:r>
            <a:endParaRPr lang="en-US" sz="1600" b="1" dirty="0"/>
          </a:p>
          <a:p>
            <a:pPr marL="0" indent="0" algn="r" rtl="1">
              <a:buNone/>
            </a:pPr>
            <a:r>
              <a:rPr lang="en-US" sz="16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تكوين سجل مؤسسي للأفكار والقرارات والمخرجات والدروس المستفادة.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المتوقعة من المنصة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26680" y="4736592"/>
            <a:ext cx="2606040" cy="457200"/>
          </a:xfrm>
          <a:prstGeom prst="roundRect">
            <a:avLst/>
          </a:prstGeom>
          <a:solidFill>
            <a:srgbClr val="EAFBFD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جودة الخدمات والعمليات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4736592"/>
            <a:ext cx="26060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الهدر والتكاليف التشغيلية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26680" y="5413248"/>
            <a:ext cx="26060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زيادة الشفافية في اختيار المبادرات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5413248"/>
            <a:ext cx="26060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تحفيز ثقافة المشاركة والابتكار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3840480" cy="1828800"/>
          </a:xfrm>
          <a:prstGeom prst="arc">
            <a:avLst/>
          </a:prstGeom>
          <a:noFill/>
          <a:ln w="88900">
            <a:solidFill>
              <a:srgbClr val="00A9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08760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</a:t>
            </a:r>
            <a:endParaRPr lang="en-US" sz="2400" dirty="0"/>
          </a:p>
          <a:p>
            <a:pPr marL="0" indent="0" algn="ctr" rtl="1">
              <a:buNone/>
            </a:pPr>
            <a:r>
              <a:rPr lang="ar-EG" sz="2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</a:t>
            </a:r>
            <a:r>
              <a:rPr lang="en-US" sz="2400" b="1" dirty="0" err="1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موظفين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الشكل العام المقترح للمنصة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102412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داخلية </a:t>
            </a:r>
            <a:r>
              <a:rPr lang="en-US" sz="1800" dirty="0" err="1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</a:t>
            </a:r>
            <a:r>
              <a:rPr lang="en-US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</a:t>
            </a:r>
            <a:r>
              <a:rPr lang="en-US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المعلومات تعمل كبوابة موحدة لاستقبال الأفكار، إدارة التقييم، متابعة التنفيذ، وإصدار التقارير.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00600" y="2514600"/>
            <a:ext cx="2468880" cy="1234440"/>
          </a:xfrm>
          <a:prstGeom prst="ellipse">
            <a:avLst/>
          </a:prstGeom>
          <a:solidFill>
            <a:srgbClr val="10233F"/>
          </a:solidFill>
          <a:ln w="25400">
            <a:solidFill>
              <a:srgbClr val="00A9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الابتكار</a:t>
            </a:r>
            <a:endParaRPr lang="en-US" sz="2200" dirty="0"/>
          </a:p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المؤسسي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1508760"/>
            <a:ext cx="2651760" cy="960120"/>
          </a:xfrm>
          <a:prstGeom prst="roundRect">
            <a:avLst/>
          </a:prstGeom>
          <a:solidFill>
            <a:srgbClr val="EAFBFD"/>
          </a:solidFill>
          <a:ln>
            <a:solidFill>
              <a:srgbClr val="D7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الفكرة</a:t>
            </a:r>
            <a:endParaRPr lang="en-US" sz="1350" b="1" dirty="0"/>
          </a:p>
          <a:p>
            <a:pPr marL="0" indent="0" algn="r" rtl="1">
              <a:buNone/>
            </a:pPr>
            <a:r>
              <a:rPr lang="en-US" sz="13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إلكتروني واضح مع مرفقات وداعمات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03920" y="3886200"/>
            <a:ext cx="2651760" cy="960120"/>
          </a:xfrm>
          <a:prstGeom prst="roundRect">
            <a:avLst/>
          </a:prstGeom>
          <a:solidFill>
            <a:srgbClr val="FFF5E3"/>
          </a:solidFill>
          <a:ln>
            <a:solidFill>
              <a:srgbClr val="D7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والفرز</a:t>
            </a:r>
            <a:endParaRPr lang="en-US" sz="1350" b="1" dirty="0"/>
          </a:p>
          <a:p>
            <a:pPr marL="0" indent="0" algn="r" rtl="1">
              <a:buNone/>
            </a:pPr>
            <a:r>
              <a:rPr lang="en-US" sz="13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معايير موحدة، درجات، وملاحظات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5074920"/>
            <a:ext cx="2651760" cy="960120"/>
          </a:xfrm>
          <a:prstGeom prst="roundRect">
            <a:avLst/>
          </a:prstGeom>
          <a:solidFill>
            <a:srgbClr val="EEF7EF"/>
          </a:solidFill>
          <a:ln>
            <a:solidFill>
              <a:srgbClr val="D7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التنفيذ</a:t>
            </a:r>
            <a:endParaRPr lang="en-US" sz="1350" b="1" dirty="0"/>
          </a:p>
          <a:p>
            <a:pPr marL="0" indent="0" algn="r" rtl="1">
              <a:buNone/>
            </a:pPr>
            <a:r>
              <a:rPr lang="en-US" sz="13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المبادرة، مسؤول التنفيذ، المواعيد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28800" y="3886200"/>
            <a:ext cx="2651760" cy="960120"/>
          </a:xfrm>
          <a:prstGeom prst="roundRect">
            <a:avLst/>
          </a:prstGeom>
          <a:solidFill>
            <a:srgbClr val="F2F5FF"/>
          </a:solidFill>
          <a:ln>
            <a:solidFill>
              <a:srgbClr val="D7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</a:t>
            </a:r>
            <a:endParaRPr lang="en-US" sz="1350" b="1" dirty="0"/>
          </a:p>
          <a:p>
            <a:pPr marL="0" indent="0" algn="r" rtl="1">
              <a:buNone/>
            </a:pPr>
            <a:r>
              <a:rPr lang="en-US" sz="13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مؤشرات للإدارة واللجان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28800" y="150876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 والصلاحيات</a:t>
            </a:r>
            <a:endParaRPr lang="en-US" sz="1350" b="1" dirty="0"/>
          </a:p>
          <a:p>
            <a:pPr marL="0" indent="0" algn="r" rtl="1">
              <a:buNone/>
            </a:pPr>
            <a:r>
              <a:rPr lang="en-US" sz="13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معتمدة وسجل قرارات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استقبال الأفكار: البيانات المطلوبة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78440" cy="411480"/>
          </a:xfrm>
          <a:prstGeom prst="roundRect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الابتكار | تقديم فكرة جديدة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" y="5897880"/>
            <a:ext cx="1828800" cy="411480"/>
          </a:xfrm>
          <a:prstGeom prst="roundRect">
            <a:avLst/>
          </a:prstGeom>
          <a:solidFill>
            <a:srgbClr val="00A9B8"/>
          </a:solidFill>
          <a:ln>
            <a:solidFill>
              <a:srgbClr val="00A9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إرسال للمراجعة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08960" y="5897880"/>
            <a:ext cx="14630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كمسودة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1901952"/>
            <a:ext cx="466344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الفكرة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عنوانًا مختصرًا وواضحًا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1901952"/>
            <a:ext cx="20116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مجال الفكرة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/ عملية / تقنية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1901952"/>
            <a:ext cx="27432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 err="1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</a:t>
            </a: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الادارة التابع لها الموظف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89320" y="2606040"/>
            <a:ext cx="50749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أو الفرصة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التحدي أو الفرصة التي تعالجها الفكرة؟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2606040"/>
            <a:ext cx="45720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وصف الحل المقترح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 err="1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</a:t>
            </a: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مختصر</a:t>
            </a:r>
            <a:r>
              <a:rPr lang="ar-EG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للفكرة / </a:t>
            </a: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للحل وكيفية تطبيقه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60920" y="3657600"/>
            <a:ext cx="370332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المتوقع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جودة / سرعة / تكلفة / </a:t>
            </a:r>
            <a:r>
              <a:rPr lang="en-US" sz="1050" dirty="0" err="1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رضا</a:t>
            </a:r>
            <a:r>
              <a:rPr lang="ar-EG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العميل ، ....الخ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3154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المبدئية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موارد بشرية / تقنية / مالية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4526280"/>
            <a:ext cx="50749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التنفيذ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أنظمة، بيانات، موافقات، </a:t>
            </a:r>
            <a:r>
              <a:rPr lang="en-US" sz="1050" dirty="0" err="1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</a:t>
            </a: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</a:t>
            </a:r>
            <a:r>
              <a:rPr lang="ar-EG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....الخ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" y="4526280"/>
            <a:ext cx="4572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والاعتمادات</a:t>
            </a:r>
            <a:endParaRPr lang="en-US" sz="1050" b="1" dirty="0"/>
          </a:p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 محتملة أو جهات يجب التنسيق معها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5394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مرفقات داعمة: صور، ملفات، دراسات، روابط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الفكرة من التقديم إلى التنفيذ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283464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09560" y="283464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26480" y="283464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43400" y="283464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0" y="1874520"/>
            <a:ext cx="502920" cy="502920"/>
          </a:xfrm>
          <a:prstGeom prst="ellipse">
            <a:avLst/>
          </a:prstGeom>
          <a:solidFill>
            <a:srgbClr val="00A9B8"/>
          </a:solidFill>
          <a:ln>
            <a:solidFill>
              <a:srgbClr val="00A9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29800" y="2542032"/>
            <a:ext cx="1600200" cy="1325880"/>
          </a:xfrm>
          <a:prstGeom prst="roundRect">
            <a:avLst/>
          </a:prstGeom>
          <a:solidFill>
            <a:srgbClr val="EAFBFD"/>
          </a:solidFill>
          <a:ln>
            <a:solidFill>
              <a:srgbClr val="D7E2EA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الفكرة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يملأ النموذج ويرفق المستندات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542032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أولي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اكتمال البيانات وعدم التكرار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542032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متخصص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درجات للجدوى والأثر والتكلفة والمخاطر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542032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اللجنة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/ تطوير / رفض مع أسباب واضحة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0" y="187452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2542032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أولية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محدود وقياس نتائج مبدئية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17320" y="187452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2542032"/>
            <a:ext cx="1600200" cy="1325880"/>
          </a:xfrm>
          <a:prstGeom prst="roundRect">
            <a:avLst/>
          </a:prstGeom>
          <a:solidFill>
            <a:srgbClr val="EEF7EF"/>
          </a:solidFill>
          <a:ln>
            <a:solidFill>
              <a:srgbClr val="D7E2EA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تعميم ومتابعة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تنفيذ ومؤشرات أداء وتقرير ختامي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الفكرة داخل المنصة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92640" y="5074920"/>
            <a:ext cx="1691640" cy="301752"/>
          </a:xfrm>
          <a:prstGeom prst="roundRect">
            <a:avLst/>
          </a:prstGeom>
          <a:solidFill>
            <a:srgbClr val="10233F"/>
          </a:solidFill>
          <a:ln>
            <a:solidFill>
              <a:srgbClr val="10233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مسودة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5074920"/>
            <a:ext cx="1691640" cy="301752"/>
          </a:xfrm>
          <a:prstGeom prst="roundRect">
            <a:avLst/>
          </a:prstGeom>
          <a:solidFill>
            <a:srgbClr val="10233F"/>
          </a:solidFill>
          <a:ln>
            <a:solidFill>
              <a:srgbClr val="10233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5074920"/>
            <a:ext cx="1691640" cy="301752"/>
          </a:xfrm>
          <a:prstGeom prst="roundRect">
            <a:avLst/>
          </a:prstGeom>
          <a:solidFill>
            <a:srgbClr val="10233F"/>
          </a:solidFill>
          <a:ln>
            <a:solidFill>
              <a:srgbClr val="10233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 المراجعة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5074920"/>
            <a:ext cx="1691640" cy="301752"/>
          </a:xfrm>
          <a:prstGeom prst="roundRect">
            <a:avLst/>
          </a:prstGeom>
          <a:solidFill>
            <a:srgbClr val="00A9B8"/>
          </a:solidFill>
          <a:ln>
            <a:solidFill>
              <a:srgbClr val="00A9B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بحاجة لاستكمال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0" y="5605272"/>
            <a:ext cx="1691640" cy="301752"/>
          </a:xfrm>
          <a:prstGeom prst="roundRect">
            <a:avLst/>
          </a:prstGeom>
          <a:solidFill>
            <a:srgbClr val="00A9B8"/>
          </a:solidFill>
          <a:ln>
            <a:solidFill>
              <a:srgbClr val="00A9B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معتمدة للتجربة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5605272"/>
            <a:ext cx="1691640" cy="301752"/>
          </a:xfrm>
          <a:prstGeom prst="roundRect">
            <a:avLst/>
          </a:prstGeom>
          <a:solidFill>
            <a:srgbClr val="00A9B8"/>
          </a:solidFill>
          <a:ln>
            <a:solidFill>
              <a:srgbClr val="00A9B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التنفيذ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5605272"/>
            <a:ext cx="1691640" cy="301752"/>
          </a:xfrm>
          <a:prstGeom prst="roundRect">
            <a:avLst/>
          </a:prstGeom>
          <a:solidFill>
            <a:srgbClr val="3BB273"/>
          </a:solidFill>
          <a:ln>
            <a:solidFill>
              <a:srgbClr val="3BB27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5605272"/>
            <a:ext cx="1691640" cy="301752"/>
          </a:xfrm>
          <a:prstGeom prst="roundRect">
            <a:avLst/>
          </a:prstGeom>
          <a:solidFill>
            <a:srgbClr val="3BB273"/>
          </a:solidFill>
          <a:ln>
            <a:solidFill>
              <a:srgbClr val="3BB27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مغلقة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معايير تقييم الأفكار المقترحة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78992"/>
            <a:ext cx="10241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يقترح احتساب درجة إجمالية لكل فكرة بناءً على معايير قابلة للقياس، مع إمكانية تعديل الأوزان وفق </a:t>
            </a:r>
            <a:r>
              <a:rPr lang="en-US" sz="1700" dirty="0" err="1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سياسة</a:t>
            </a:r>
            <a:r>
              <a:rPr lang="en-US" sz="17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7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جاسكو واللجنة </a:t>
            </a:r>
            <a:r>
              <a:rPr lang="en-US" sz="17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على العمل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20640" y="1847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خدمة، خفض وقت، جودة، رضا المتعاملين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51560" y="1874520"/>
            <a:ext cx="3383280" cy="201168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89020" y="1874520"/>
            <a:ext cx="845820" cy="201168"/>
          </a:xfrm>
          <a:prstGeom prst="rect">
            <a:avLst/>
          </a:prstGeom>
          <a:solidFill>
            <a:srgbClr val="00A9B8"/>
          </a:solidFill>
          <a:ln w="12700">
            <a:solidFill>
              <a:srgbClr val="00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8105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21040" y="2487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الجدوى وقابلية التنفيذ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0" y="2505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مدى إمكانية التطبيق بالأنظمة والموارد الحالية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1560" y="2532888"/>
            <a:ext cx="3383280" cy="201168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58184" y="2532888"/>
            <a:ext cx="676656" cy="201168"/>
          </a:xfrm>
          <a:prstGeom prst="rect">
            <a:avLst/>
          </a:prstGeom>
          <a:solidFill>
            <a:srgbClr val="00A9B8"/>
          </a:solidFill>
          <a:ln w="12700">
            <a:solidFill>
              <a:srgbClr val="00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المبدئية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20640" y="31638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تقدير أولي للموارد المالية والبشرية والتقنية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3191256"/>
            <a:ext cx="3383280" cy="201168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27348" y="3191256"/>
            <a:ext cx="507492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31272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3803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الابتكار والتميّز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20640" y="3822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حداثة الحل أو اختلافه عن الممارسات الحالية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" y="3849624"/>
            <a:ext cx="3383280" cy="201168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927348" y="3849624"/>
            <a:ext cx="507492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378561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1040" y="4462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مخاطر التنفيذ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120640" y="44805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مخاطر تشغيلية أو أمنية أو تنظيمية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1560" y="4507992"/>
            <a:ext cx="3383280" cy="201168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96512" y="4507992"/>
            <a:ext cx="338328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26280" y="44439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0" y="5120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التوسع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20640" y="5138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إمكانية تعميم الحل على وحدات أخرى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1560" y="5166360"/>
            <a:ext cx="3383280" cy="201168"/>
          </a:xfrm>
          <a:prstGeom prst="rect">
            <a:avLst/>
          </a:prstGeom>
          <a:solidFill>
            <a:srgbClr val="E3EAF2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27348" y="5166360"/>
            <a:ext cx="507492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26280" y="51023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72400" y="5989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نتيجة التقييم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5943600"/>
            <a:ext cx="2011680" cy="301752"/>
          </a:xfrm>
          <a:prstGeom prst="roundRect">
            <a:avLst/>
          </a:prstGeom>
          <a:solidFill>
            <a:srgbClr val="3BB273"/>
          </a:solidFill>
          <a:ln>
            <a:solidFill>
              <a:srgbClr val="3BB27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80: ترشيح للتجربة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5943600"/>
            <a:ext cx="2011680" cy="301752"/>
          </a:xfrm>
          <a:prstGeom prst="roundRect">
            <a:avLst/>
          </a:prstGeom>
          <a:solidFill>
            <a:srgbClr val="F2A900"/>
          </a:solidFill>
          <a:ln>
            <a:solidFill>
              <a:srgbClr val="F2A90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60–79: استكمال/تطوير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943600"/>
            <a:ext cx="1828800" cy="301752"/>
          </a:xfrm>
          <a:prstGeom prst="roundRect">
            <a:avLst/>
          </a:prstGeom>
          <a:solidFill>
            <a:srgbClr val="C74D4D"/>
          </a:solidFill>
          <a:ln>
            <a:solidFill>
              <a:srgbClr val="C74D4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60: حفظ مع الملاحظات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 والصلاحيات داخل المنصة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38160" y="1325880"/>
            <a:ext cx="2743200" cy="365760"/>
          </a:xfrm>
          <a:prstGeom prst="roundRect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6720840" cy="365760"/>
          </a:xfrm>
          <a:prstGeom prst="roundRect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 الأساسية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38160" y="1856232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مقدم الفكرة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143000" y="1856232"/>
            <a:ext cx="6720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فكرة، تعديل المسودة، متابعة الحالة، الرد على طلبات الاستكمال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2624328"/>
            <a:ext cx="2743200" cy="502920"/>
          </a:xfrm>
          <a:prstGeom prst="roundRect">
            <a:avLst/>
          </a:prstGeom>
          <a:solidFill>
            <a:srgbClr val="F7FAFC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ar-EG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منسقي منصة</a:t>
            </a:r>
            <a:r>
              <a:rPr lang="en-US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الابتكار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1143000" y="2624328"/>
            <a:ext cx="6720840" cy="502920"/>
          </a:xfrm>
          <a:prstGeom prst="roundRect">
            <a:avLst/>
          </a:prstGeom>
          <a:solidFill>
            <a:srgbClr val="F7FAFC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أولي، كشف التكرار، تحويل للتقييم، إدارة التواصل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38160" y="3392424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المقيّم الفني / المالي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1143000" y="3392424"/>
            <a:ext cx="6720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الجدوى، التكلفة، المتطلبات، المخاطر، وكتابة التوصية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38160" y="4160520"/>
            <a:ext cx="2743200" cy="502920"/>
          </a:xfrm>
          <a:prstGeom prst="roundRect">
            <a:avLst/>
          </a:prstGeom>
          <a:solidFill>
            <a:srgbClr val="F7FAFC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لجنة الابتكار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143000" y="4160520"/>
            <a:ext cx="6720840" cy="502920"/>
          </a:xfrm>
          <a:prstGeom prst="roundRect">
            <a:avLst/>
          </a:prstGeom>
          <a:solidFill>
            <a:srgbClr val="F7FAFC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التجربة أو التنفيذ، إرجاع الفكرة للتطوير، إغلاق الفكرة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4928616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80" b="1" dirty="0" err="1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</a:t>
            </a:r>
            <a:r>
              <a:rPr lang="en-US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</a:t>
            </a:r>
            <a:r>
              <a:rPr lang="en-US" sz="128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تقنية المعلومات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143000" y="4928616"/>
            <a:ext cx="67208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المستخدمين، الصلاحيات، القوالب، الربط، النسخ الاحتياطي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5897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00" b="1" dirty="0" err="1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مبدأ</a:t>
            </a: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</a:t>
            </a:r>
            <a:r>
              <a:rPr lang="ar-EG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r>
              <a:rPr lang="en-US" sz="13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مهم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587044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إجراء يجب أن يترك أثرًا في سجل تدقيق: من قام؟ متى؟ ما القرار؟ وما الملاحظة؟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تكنولوجيا المعلومات لبناء المنصة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024128"/>
            <a:ext cx="100584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بسيط وقابل للتوسع يمكن نشره داخليًا وربطه </a:t>
            </a:r>
            <a:r>
              <a:rPr lang="en-US" sz="1800" dirty="0" err="1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بخدمات</a:t>
            </a:r>
            <a:r>
              <a:rPr lang="en-US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جاسكو</a:t>
            </a:r>
            <a:r>
              <a:rPr lang="en-US" sz="18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القائمة.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288036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288036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0" y="288036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0" y="2880360"/>
            <a:ext cx="0" cy="91440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288036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58200" y="2331720"/>
            <a:ext cx="2240280" cy="1005840"/>
          </a:xfrm>
          <a:prstGeom prst="roundRect">
            <a:avLst/>
          </a:prstGeom>
          <a:solidFill>
            <a:srgbClr val="EAFBFD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مستخدمو الشبكة الداخلية</a:t>
            </a:r>
            <a:endParaRPr lang="en-US" sz="1350" dirty="0"/>
          </a:p>
          <a:p>
            <a:pPr marL="0" indent="0" algn="ctr" rtl="1">
              <a:buNone/>
            </a:pPr>
            <a:r>
              <a:rPr lang="en-US" sz="13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موظفون / مقيّمون / لجنة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55080" y="233172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2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ويب</a:t>
            </a:r>
            <a:endParaRPr lang="en-US" sz="1320" dirty="0"/>
          </a:p>
          <a:p>
            <a:pPr marL="0" indent="0" algn="ctr" rtl="1">
              <a:buNone/>
            </a:pPr>
            <a:r>
              <a:rPr lang="en-US" sz="132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أفكار + متابعة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926080" y="1417320"/>
            <a:ext cx="1920240" cy="777240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سير العمل</a:t>
            </a:r>
            <a:endParaRPr lang="en-US" sz="1250" dirty="0"/>
          </a:p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+ موافقات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251460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الأفكار</a:t>
            </a:r>
            <a:endParaRPr lang="en-US" sz="1250" dirty="0"/>
          </a:p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+ مرفقات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611880"/>
            <a:ext cx="1920240" cy="777240"/>
          </a:xfrm>
          <a:prstGeom prst="roundRect">
            <a:avLst/>
          </a:prstGeom>
          <a:solidFill>
            <a:srgbClr val="EEF7E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وتقارير</a:t>
            </a:r>
            <a:endParaRPr lang="en-US" sz="1250" dirty="0"/>
          </a:p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بريد/لوحات مؤشرات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2331720"/>
            <a:ext cx="1828800" cy="1005840"/>
          </a:xfrm>
          <a:prstGeom prst="roundRect">
            <a:avLst/>
          </a:prstGeom>
          <a:solidFill>
            <a:srgbClr val="F2F5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الإدارة</a:t>
            </a:r>
            <a:endParaRPr lang="en-US" sz="1250" dirty="0"/>
          </a:p>
          <a:p>
            <a:pPr marL="0" indent="0" algn="ctr" rtl="1">
              <a:buNone/>
            </a:pPr>
            <a:r>
              <a:rPr lang="en-US" sz="125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وتصدير Excel/PDF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35240" y="484632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غير وظيفية أساسية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882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تسجيل دخول موحد أو حسابات داخلية حسب سياسة المؤسسة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1188720" y="5193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صلاحيات مبنية على الأدوار مع سجل تدقيق كامل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1188720" y="55046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حفظ المرفقات وتحديد حدود الحجم والأنواع المسموحة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188720" y="58155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نسخ احتياطي دوري وخطة استرجاع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1188720" y="6126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إشعارات للحالات المتغيرة وطلبات الاستكمال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المتابعة ومؤشرات الأداء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24128"/>
            <a:ext cx="103327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توفر المنصة رؤية لحظية لمسار الأفكار، نقاط الاختناق، ونسب التحويل من فكرة إلى مبادرة منفذة.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778240" y="155067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الأفكار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06840" y="2139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20840" y="1467612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تحت التقييم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2139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0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63440" y="1513332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معتمدة للتجربة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139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1476756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139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953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قمع تحويل الأفكار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مقدمة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977640" y="3675888"/>
            <a:ext cx="4389120" cy="201168"/>
          </a:xfrm>
          <a:prstGeom prst="rect">
            <a:avLst/>
          </a:prstGeom>
          <a:solidFill>
            <a:srgbClr val="00A9B8"/>
          </a:solidFill>
          <a:ln w="12700">
            <a:solidFill>
              <a:srgbClr val="00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3611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7824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مكتملة البيانات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943246" y="4087368"/>
            <a:ext cx="3423514" cy="201168"/>
          </a:xfrm>
          <a:prstGeom prst="rect">
            <a:avLst/>
          </a:prstGeom>
          <a:solidFill>
            <a:srgbClr val="00A9B8"/>
          </a:solidFill>
          <a:ln w="12700">
            <a:solidFill>
              <a:srgbClr val="00A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54680" y="40233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مؤهلة للتقييم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996635" y="4498848"/>
            <a:ext cx="2370125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54680" y="44348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0" y="4892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معتمدة للتجربة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137806" y="4910328"/>
            <a:ext cx="1228954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48463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0" y="5303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منفذة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840066" y="5321808"/>
            <a:ext cx="526694" cy="201168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54680" y="5257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8600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مقترحة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3657600"/>
            <a:ext cx="20116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حسب الإدارة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20116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حسب مجال الفكرة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4480560"/>
            <a:ext cx="20116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زمن التقييم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4892040"/>
            <a:ext cx="20116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الأفكار المنفذة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303520"/>
            <a:ext cx="201168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العائد المتوقع مقابل التكلفة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البيانات وجودة الأفكار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09360" y="1417320"/>
            <a:ext cx="4572000" cy="960120"/>
          </a:xfrm>
          <a:prstGeom prst="roundRect">
            <a:avLst/>
          </a:prstGeom>
          <a:solidFill>
            <a:srgbClr val="EAFBFD"/>
          </a:solidFill>
          <a:ln>
            <a:solidFill>
              <a:srgbClr val="D7E2EA"/>
            </a:solidFill>
          </a:ln>
        </p:spPr>
        <p:txBody>
          <a:bodyPr wrap="square" lIns="2159" tIns="2159" rIns="2159" bIns="2159" rtlCol="0" anchor="t">
            <a:normAutofit/>
          </a:bodyPr>
          <a:lstStyle/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حقول إلزامية</a:t>
            </a:r>
            <a:endParaRPr lang="en-US" sz="1330" dirty="0"/>
          </a:p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العنوان، المشكلة، الحل، الأثر، التكلفة، متطلبات التنفيذ، الجهة المستفيدة.</a:t>
            </a:r>
            <a:endParaRPr lang="en-US" sz="1330" dirty="0"/>
          </a:p>
        </p:txBody>
      </p:sp>
      <p:sp>
        <p:nvSpPr>
          <p:cNvPr id="5" name="Text 3"/>
          <p:cNvSpPr/>
          <p:nvPr/>
        </p:nvSpPr>
        <p:spPr>
          <a:xfrm>
            <a:off x="6309360" y="278892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2159" tIns="2159" rIns="2159" bIns="2159" rtlCol="0" anchor="t">
            <a:normAutofit/>
          </a:bodyPr>
          <a:lstStyle/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التكرار</a:t>
            </a:r>
            <a:endParaRPr lang="en-US" sz="1330" dirty="0"/>
          </a:p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أفكار مشابهة قبل الإرسال لتقليل ازدواجية المقترحات.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6309360" y="416052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2159" tIns="2159" rIns="2159" bIns="2159" rtlCol="0" anchor="t">
            <a:normAutofit/>
          </a:bodyPr>
          <a:lstStyle/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واضحة</a:t>
            </a:r>
            <a:endParaRPr lang="en-US" sz="1330" dirty="0"/>
          </a:p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إرشادات قصيرة بجانب كل حقل تساعد الموظف على كتابة فكرة قابلة للتقييم.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4572000" cy="960120"/>
          </a:xfrm>
          <a:prstGeom prst="roundRect">
            <a:avLst/>
          </a:prstGeom>
          <a:solidFill>
            <a:srgbClr val="FFF5E3"/>
          </a:solidFill>
          <a:ln>
            <a:solidFill>
              <a:srgbClr val="D7E2EA"/>
            </a:solidFill>
          </a:ln>
        </p:spPr>
        <p:txBody>
          <a:bodyPr wrap="square" lIns="2159" tIns="2159" rIns="2159" bIns="2159" rtlCol="0" anchor="t">
            <a:normAutofit/>
          </a:bodyPr>
          <a:lstStyle/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سرية البيانات</a:t>
            </a:r>
            <a:endParaRPr lang="en-US" sz="1330" dirty="0"/>
          </a:p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الأفكار والمرفقات حسب حساسية المعلومات.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2159" tIns="2159" rIns="2159" bIns="2159" rtlCol="0" anchor="t">
            <a:normAutofit/>
          </a:bodyPr>
          <a:lstStyle/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القرارات</a:t>
            </a:r>
            <a:endParaRPr lang="en-US" sz="1330" dirty="0"/>
          </a:p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يتم إغلاق أو رفض فكرة دون سبب موثق ومتاح لصاحب الفكرة.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4572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2159" tIns="2159" rIns="2159" bIns="2159" rtlCol="0" anchor="t">
            <a:normAutofit/>
          </a:bodyPr>
          <a:lstStyle/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مستمر</a:t>
            </a:r>
            <a:endParaRPr lang="en-US" sz="1330" dirty="0"/>
          </a:p>
          <a:p>
            <a:pPr marL="0" indent="0" algn="r" rtl="1">
              <a:buNone/>
            </a:pPr>
            <a:r>
              <a:rPr lang="en-US" sz="133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دورية للمعايير والنماذج بناءً على نتائج الاستخدام.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143000" y="5833872"/>
            <a:ext cx="9784080" cy="457200"/>
          </a:xfrm>
          <a:prstGeom prst="roundRect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مقترحة: لا تُقبل الفكرة في مرحلة التقييم إلا بعد اكتمال الحد الأدنى من البيانات، مع السماح بحفظ مسودة قبل الإرسال.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التنفيذ المقترحة والمخرجات المطلوبة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120140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95360" y="274320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63640" y="274320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31920" y="2743200"/>
            <a:ext cx="0" cy="0"/>
          </a:xfrm>
          <a:prstGeom prst="line">
            <a:avLst/>
          </a:prstGeom>
          <a:noFill/>
          <a:ln w="25400">
            <a:solidFill>
              <a:srgbClr val="A8DCE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35440" y="1600200"/>
            <a:ext cx="502920" cy="502920"/>
          </a:xfrm>
          <a:prstGeom prst="ellipse">
            <a:avLst/>
          </a:prstGeom>
          <a:solidFill>
            <a:srgbClr val="00A9B8"/>
          </a:solidFill>
          <a:ln>
            <a:solidFill>
              <a:srgbClr val="00A9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2331720"/>
            <a:ext cx="2103120" cy="1417320"/>
          </a:xfrm>
          <a:prstGeom prst="roundRect">
            <a:avLst/>
          </a:prstGeom>
          <a:solidFill>
            <a:srgbClr val="EAFBFD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المتطلبات</a:t>
            </a:r>
            <a:endParaRPr lang="en-US" sz="1220" dirty="0"/>
          </a:p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الحقول، الأدوار، حالات سير العمل، ونماذج التقارير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720840" y="160020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233172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وتجربة أولية</a:t>
            </a:r>
            <a:endParaRPr lang="en-US" sz="1220" dirty="0"/>
          </a:p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تقديم فكرة، قائمة الأفكار، صفحة التقييم، وصلاحيات المستخدمين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206240" y="160020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وربط</a:t>
            </a:r>
            <a:endParaRPr lang="en-US" sz="1220" dirty="0"/>
          </a:p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البيانات، التنبيهات، المرفقات، تسجيل الدخول، وسجل التدقيق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691640" y="1600200"/>
            <a:ext cx="502920" cy="502920"/>
          </a:xfrm>
          <a:prstGeom prst="ellipse">
            <a:avLst/>
          </a:prstGeom>
          <a:solidFill>
            <a:srgbClr val="10233F"/>
          </a:solidFill>
          <a:ln>
            <a:solidFill>
              <a:srgbClr val="10233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وإطلاق</a:t>
            </a:r>
            <a:endParaRPr lang="en-US" sz="1220" dirty="0"/>
          </a:p>
          <a:p>
            <a:pPr marL="0" indent="0" algn="ctr" rtl="1">
              <a:buNone/>
            </a:pPr>
            <a:r>
              <a:rPr lang="en-US" sz="122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قبول المستخدم، تدريب مختصر، إطلاق تجريبي ثم نشر داخلي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315200" y="4343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مخرجات مطلوبة من فريق تقنية المعلومات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2240280" cy="384048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80" b="1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واجهات المستخدم الأساسية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080760" y="4846320"/>
            <a:ext cx="2240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8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الأفكار والمرفقات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3474720" y="4846320"/>
            <a:ext cx="2240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8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عمل الحالات والموافقات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686800" y="5376672"/>
            <a:ext cx="2240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8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وأدوار المستخدمين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080760" y="5376672"/>
            <a:ext cx="2240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8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مؤشرات وتقارير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3474720" y="5376672"/>
            <a:ext cx="2240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80" dirty="0">
                <a:solidFill>
                  <a:srgbClr val="1C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مستخدم مختصر وخطة تشغيل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91440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0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المطلوبة: منصة داخلية بسيطة، آمنة، وسهلة الاستخدام تحول أفكار الموظفين إلى فرص تحسين قابلة للتنفيذ.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 rtl="1">
              <a:buNone/>
            </a:pPr>
            <a:r>
              <a:rPr lang="en-US" sz="800" dirty="0">
                <a:solidFill>
                  <a:srgbClr val="60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ABB806-563C-6124-339C-92E8153425EC}"/>
              </a:ext>
            </a:extLst>
          </p:cNvPr>
          <p:cNvSpPr/>
          <p:nvPr/>
        </p:nvSpPr>
        <p:spPr>
          <a:xfrm>
            <a:off x="2895600" y="2652713"/>
            <a:ext cx="7134225" cy="2124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/>
              <a:t>شكرا جزيلا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8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992</Words>
  <Application>Microsoft Office PowerPoint</Application>
  <PresentationFormat>Widescreen</PresentationFormat>
  <Paragraphs>231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المؤسسة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الابتكار المؤسسي</dc:title>
  <dc:subject>مقترح إنشاء منصة للابتكار المؤسسي</dc:subject>
  <dc:creator>OpenAI</dc:creator>
  <cp:lastModifiedBy>Mohamed Tash</cp:lastModifiedBy>
  <cp:revision>4</cp:revision>
  <dcterms:created xsi:type="dcterms:W3CDTF">2026-05-25T13:29:32Z</dcterms:created>
  <dcterms:modified xsi:type="dcterms:W3CDTF">2026-05-25T14:00:19Z</dcterms:modified>
</cp:coreProperties>
</file>